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8"/>
  </p:notesMasterIdLst>
  <p:sldIdLst>
    <p:sldId id="256" r:id="rId5"/>
    <p:sldId id="257" r:id="rId6"/>
    <p:sldId id="279" r:id="rId7"/>
    <p:sldId id="259" r:id="rId8"/>
    <p:sldId id="258" r:id="rId9"/>
    <p:sldId id="273" r:id="rId10"/>
    <p:sldId id="274" r:id="rId11"/>
    <p:sldId id="275" r:id="rId12"/>
    <p:sldId id="278" r:id="rId13"/>
    <p:sldId id="276" r:id="rId14"/>
    <p:sldId id="280" r:id="rId15"/>
    <p:sldId id="277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7B3C7-7755-4CA4-8C59-81BC561C356B}" type="datetimeFigureOut">
              <a:rPr lang="es-MX" smtClean="0"/>
              <a:t>20/03/2025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A755F-9144-4A63-A983-9F3011FC0FC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4921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0823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DD30-0CC5-EFED-F18F-2B6DF6EE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EAAAD4-7F2B-2D3E-14ED-F25487407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9348D7-B601-9A90-B5AD-AD2DA40E1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7E3FE2-985D-CEA1-928B-21203C01B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847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F6D47-8C3F-3FA3-7165-2F5AB8CF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F6BDB5-BF1A-2A6D-A06C-9BE2F4687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066D64-21E2-F3B0-B5AF-52DC61AEE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6E582F-3239-BDAB-96BA-2DBA3C0B3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7067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E094-BF3D-8CA2-75B5-C9BC606FD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E5EADF-8FEC-34A8-9978-970CAA8AC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237DBE5-83D5-95DA-9A34-C1C867F53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044F32-563C-35FA-879A-9CBE41056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4040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F4C5-454A-5E62-7891-FB54B825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97B440-AAD2-522C-9F50-FDDCECE61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4ECC4D-9941-9120-EBCF-177917790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9289B4-3A23-2098-4A03-500B5F5DE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7646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CECB2-237C-C97C-4003-E4BF77ED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C7FDE3-737B-FAA4-6AC6-90097F773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B9AB20-5A36-76B5-F4C1-48137311D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2D0137-9B17-499E-DDE1-1C0A4CFD3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8365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B5EF-8898-F695-3C67-BE501155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746D3E-53AE-747C-8203-1C66614C5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D1C990-85D9-8521-68C9-277DB1306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290EC3-7AA5-D070-17C4-535E46A28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2658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8236-AA77-72A9-FFF1-607D7415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D72EE6-EF1C-0A95-919D-18A1614F7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51D8D7-644D-EAD4-DB94-9D84B40D7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DB1A56-8F8A-D59C-1C5A-489FE0B9E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755F-9144-4A63-A983-9F3011FC0FCC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4152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99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6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2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60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47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50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6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6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2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7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3/20/2025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21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1C3281D-A46F-4842-9340-4CBC29E1B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pic>
        <p:nvPicPr>
          <p:cNvPr id="4" name="Picture 3" descr="Fondo con red tecnológica">
            <a:extLst>
              <a:ext uri="{FF2B5EF4-FFF2-40B4-BE49-F238E27FC236}">
                <a16:creationId xmlns:a16="http://schemas.microsoft.com/office/drawing/2014/main" id="{9A7D7AEF-7613-DFBF-7FBE-0C17C181A3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343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F3CF64E-2E44-10FB-2366-632F41C6E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6952388" cy="3260635"/>
          </a:xfrm>
        </p:spPr>
        <p:txBody>
          <a:bodyPr>
            <a:normAutofit/>
          </a:bodyPr>
          <a:lstStyle/>
          <a:p>
            <a:r>
              <a:rPr lang="es-MX" noProof="0" dirty="0">
                <a:solidFill>
                  <a:srgbClr val="FFFFFF"/>
                </a:solidFill>
              </a:rPr>
              <a:t>Búsqueda por anchura (BFS)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A6AC14-61A9-8E99-A2F8-51B373630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/>
          <a:p>
            <a:r>
              <a:rPr lang="es-MX" noProof="0" dirty="0">
                <a:solidFill>
                  <a:srgbClr val="FFFFFF"/>
                </a:solidFill>
              </a:rPr>
              <a:t>Luis Fernando Lizárraga Trujillo</a:t>
            </a:r>
          </a:p>
          <a:p>
            <a:r>
              <a:rPr lang="es-MX" i="1" noProof="0" dirty="0">
                <a:solidFill>
                  <a:srgbClr val="FFFFFF"/>
                </a:solidFill>
              </a:rPr>
              <a:t>Profesor Elia Ivette Cota Rivera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3FECB8-44EE-4A45-9F7B-66ECF1C3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8595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10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7218290-08E7-4AB8-8549-F625B01F0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A8E8D8-2EE0-6F73-91F7-8747EF4D7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762001"/>
            <a:ext cx="5008696" cy="114100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MX" sz="2200" noProof="0" dirty="0"/>
              <a:t>Búsqueda por anchura/ </a:t>
            </a:r>
            <a:r>
              <a:rPr lang="es-MX" sz="2200" noProof="0" dirty="0" err="1"/>
              <a:t>Breadth</a:t>
            </a:r>
            <a:r>
              <a:rPr lang="es-MX" sz="2200" dirty="0"/>
              <a:t>-</a:t>
            </a:r>
            <a:r>
              <a:rPr lang="es-MX" sz="2200" dirty="0" err="1"/>
              <a:t>first</a:t>
            </a:r>
            <a:r>
              <a:rPr lang="es-MX" sz="2200" dirty="0"/>
              <a:t> </a:t>
            </a:r>
            <a:r>
              <a:rPr lang="es-MX" sz="2200" dirty="0" err="1"/>
              <a:t>search</a:t>
            </a:r>
            <a:endParaRPr lang="es-MX" sz="2200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10D5D6-97E3-95A0-F0DD-A3E3AD384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59698"/>
            <a:ext cx="4479398" cy="38363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noProof="0" dirty="0"/>
              <a:t>Algoritmo de programación utilizado en un árbol o un grafo de nodos para recorrer todos los nodos nivel por nivel antes de avanzar al siguiente.  </a:t>
            </a:r>
          </a:p>
        </p:txBody>
      </p:sp>
      <p:pic>
        <p:nvPicPr>
          <p:cNvPr id="1026" name="Picture 2" descr="Programación Orientada a Objetos - Definición, Concepto y Qué es">
            <a:extLst>
              <a:ext uri="{FF2B5EF4-FFF2-40B4-BE49-F238E27FC236}">
                <a16:creationId xmlns:a16="http://schemas.microsoft.com/office/drawing/2014/main" id="{2B6A1459-A6E4-99D2-A7DF-6439B7934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 r="19548"/>
          <a:stretch/>
        </p:blipFill>
        <p:spPr bwMode="auto">
          <a:xfrm>
            <a:off x="6639965" y="1114197"/>
            <a:ext cx="4629606" cy="4629606"/>
          </a:xfrm>
          <a:custGeom>
            <a:avLst/>
            <a:gdLst/>
            <a:ahLst/>
            <a:cxnLst/>
            <a:rect l="l" t="t" r="r" b="b"/>
            <a:pathLst>
              <a:path w="4629606" h="4629606">
                <a:moveTo>
                  <a:pt x="2314803" y="0"/>
                </a:moveTo>
                <a:cubicBezTo>
                  <a:pt x="3593233" y="0"/>
                  <a:pt x="4629606" y="1036373"/>
                  <a:pt x="4629606" y="2314803"/>
                </a:cubicBezTo>
                <a:cubicBezTo>
                  <a:pt x="4629606" y="3593233"/>
                  <a:pt x="3593233" y="4629606"/>
                  <a:pt x="2314803" y="4629606"/>
                </a:cubicBezTo>
                <a:cubicBezTo>
                  <a:pt x="1036373" y="4629606"/>
                  <a:pt x="0" y="3593233"/>
                  <a:pt x="0" y="2314803"/>
                </a:cubicBezTo>
                <a:cubicBezTo>
                  <a:pt x="0" y="1036373"/>
                  <a:pt x="1036373" y="0"/>
                  <a:pt x="231480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64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305B7-34EC-078B-819E-0C80D1790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D13D56-49B6-C208-E0AF-41DCAC22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ADC497-34BA-29FD-ABD7-D5BA5B76D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762001"/>
            <a:ext cx="5008696" cy="114100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MX" sz="2200" noProof="0" dirty="0"/>
              <a:t>Búsqueda por anchura/ </a:t>
            </a:r>
            <a:r>
              <a:rPr lang="es-MX" sz="2200" noProof="0" dirty="0" err="1"/>
              <a:t>Breadth</a:t>
            </a:r>
            <a:r>
              <a:rPr lang="es-MX" sz="2200" dirty="0"/>
              <a:t>-</a:t>
            </a:r>
            <a:r>
              <a:rPr lang="es-MX" sz="2200" dirty="0" err="1"/>
              <a:t>first</a:t>
            </a:r>
            <a:r>
              <a:rPr lang="es-MX" sz="2200" dirty="0"/>
              <a:t> </a:t>
            </a:r>
            <a:r>
              <a:rPr lang="es-MX" sz="2200" dirty="0" err="1"/>
              <a:t>search</a:t>
            </a:r>
            <a:endParaRPr lang="es-MX" sz="2200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3BC3CF-82CF-93EE-287A-649D8429E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59698"/>
            <a:ext cx="4479398" cy="38363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noProof="0" dirty="0"/>
              <a:t>Es útil en la rama de topologías de redes, ya que permite encontrar problemas de conectividad al realizar los saltos.</a:t>
            </a:r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noProof="0" dirty="0"/>
              <a:t>Otros usos que se les da es en GPS, Redes sociales y en aprendizaje a Inteligencias Artificiales.</a:t>
            </a:r>
          </a:p>
        </p:txBody>
      </p:sp>
      <p:pic>
        <p:nvPicPr>
          <p:cNvPr id="1026" name="Picture 2" descr="Programación Orientada a Objetos - Definición, Concepto y Qué es">
            <a:extLst>
              <a:ext uri="{FF2B5EF4-FFF2-40B4-BE49-F238E27FC236}">
                <a16:creationId xmlns:a16="http://schemas.microsoft.com/office/drawing/2014/main" id="{1CF53171-2843-34A4-E713-E404DCB2D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" r="19548"/>
          <a:stretch/>
        </p:blipFill>
        <p:spPr bwMode="auto">
          <a:xfrm>
            <a:off x="6639965" y="1114197"/>
            <a:ext cx="4629606" cy="4629606"/>
          </a:xfrm>
          <a:custGeom>
            <a:avLst/>
            <a:gdLst/>
            <a:ahLst/>
            <a:cxnLst/>
            <a:rect l="l" t="t" r="r" b="b"/>
            <a:pathLst>
              <a:path w="4629606" h="4629606">
                <a:moveTo>
                  <a:pt x="2314803" y="0"/>
                </a:moveTo>
                <a:cubicBezTo>
                  <a:pt x="3593233" y="0"/>
                  <a:pt x="4629606" y="1036373"/>
                  <a:pt x="4629606" y="2314803"/>
                </a:cubicBezTo>
                <a:cubicBezTo>
                  <a:pt x="4629606" y="3593233"/>
                  <a:pt x="3593233" y="4629606"/>
                  <a:pt x="2314803" y="4629606"/>
                </a:cubicBezTo>
                <a:cubicBezTo>
                  <a:pt x="1036373" y="4629606"/>
                  <a:pt x="0" y="3593233"/>
                  <a:pt x="0" y="2314803"/>
                </a:cubicBezTo>
                <a:cubicBezTo>
                  <a:pt x="0" y="1036373"/>
                  <a:pt x="1036373" y="0"/>
                  <a:pt x="231480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65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1C3281D-A46F-4842-9340-4CBC29E1B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B080E6-308F-4DD8-A448-707DFB83C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8637" y="1"/>
            <a:ext cx="889472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4902"/>
                </a:srgbClr>
              </a:gs>
              <a:gs pos="80000">
                <a:srgbClr val="000000">
                  <a:alpha val="0"/>
                </a:srgbClr>
              </a:gs>
              <a:gs pos="51000">
                <a:srgbClr val="000000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3FECB8-44EE-4A45-9F7B-66ECF1C3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3228" y="3795164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886961-A92A-337C-84EB-7D02641B4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9" y="0"/>
            <a:ext cx="7826721" cy="668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56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18290-08E7-4AB8-8549-F625B01F0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2467D84-361B-4C9F-11DA-47D9D543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3909" y="4321520"/>
            <a:ext cx="7620000" cy="19050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MX" dirty="0">
                <a:solidFill>
                  <a:srgbClr val="FFFFFF"/>
                </a:solidFill>
              </a:rPr>
              <a:t>Pila</a:t>
            </a:r>
            <a:endParaRPr lang="es-MX" noProof="0" dirty="0">
              <a:solidFill>
                <a:srgbClr val="FFFFFF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8FE210-72CD-1B73-0044-AA1F4A75C8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1519"/>
          <a:stretch/>
        </p:blipFill>
        <p:spPr bwMode="auto">
          <a:xfrm>
            <a:off x="480965" y="183427"/>
            <a:ext cx="5962650" cy="527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50010B0-519D-BF38-62B5-E77CEE91B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536" y="1747318"/>
            <a:ext cx="3733535" cy="329093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6AD0210-FBA9-985A-0F3B-D6AA4CC77778}"/>
              </a:ext>
            </a:extLst>
          </p:cNvPr>
          <p:cNvSpPr txBox="1">
            <a:spLocks/>
          </p:cNvSpPr>
          <p:nvPr/>
        </p:nvSpPr>
        <p:spPr>
          <a:xfrm>
            <a:off x="6462666" y="5486400"/>
            <a:ext cx="5216305" cy="6933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rgbClr val="FFFFFF"/>
                </a:solidFill>
              </a:rPr>
              <a:t>Cola</a:t>
            </a:r>
          </a:p>
        </p:txBody>
      </p:sp>
      <p:sp>
        <p:nvSpPr>
          <p:cNvPr id="5" name="Estrella: 4 puntas 4">
            <a:extLst>
              <a:ext uri="{FF2B5EF4-FFF2-40B4-BE49-F238E27FC236}">
                <a16:creationId xmlns:a16="http://schemas.microsoft.com/office/drawing/2014/main" id="{E4FE8C67-402E-D935-D658-4B0497F803BA}"/>
              </a:ext>
            </a:extLst>
          </p:cNvPr>
          <p:cNvSpPr/>
          <p:nvPr/>
        </p:nvSpPr>
        <p:spPr>
          <a:xfrm rot="2407178">
            <a:off x="1358020" y="1276539"/>
            <a:ext cx="4119327" cy="4101220"/>
          </a:xfrm>
          <a:prstGeom prst="star4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0813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BD41C-CE98-E200-F786-B02A58C86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492CD5-18D5-968F-A83E-F5D2B648E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DE083E-BE2D-18A5-B1F9-44C7D71C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FE87E3-FC2A-7B5C-45CD-5E759066E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8637" y="1"/>
            <a:ext cx="889472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4902"/>
                </a:srgbClr>
              </a:gs>
              <a:gs pos="80000">
                <a:srgbClr val="000000">
                  <a:alpha val="0"/>
                </a:srgbClr>
              </a:gs>
              <a:gs pos="51000">
                <a:srgbClr val="000000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3CF98E-CAED-1DCE-FE05-AFAD58881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3228" y="3795164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446B2BA8-BDD2-8C8A-FB44-1CE66C628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69" y="1166294"/>
            <a:ext cx="11287125" cy="5057775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453E3400-B9D9-44B7-644F-E909E43F8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756" y="0"/>
            <a:ext cx="5008696" cy="1141004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s-MX" sz="2200" noProof="0" dirty="0"/>
              <a:t>Ejemplo del funcionamiento</a:t>
            </a:r>
          </a:p>
        </p:txBody>
      </p:sp>
    </p:spTree>
    <p:extLst>
      <p:ext uri="{BB962C8B-B14F-4D97-AF65-F5344CB8AC3E}">
        <p14:creationId xmlns:p14="http://schemas.microsoft.com/office/powerpoint/2010/main" val="205175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EB1A7-1025-8DBF-5792-D909527E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FF61BA-EB22-A0F2-0664-97627C5B2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29C87C-2053-9A09-79DA-CDB354559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718AC-9079-3A1C-6DF6-7546779E5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8637" y="1"/>
            <a:ext cx="889472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4902"/>
                </a:srgbClr>
              </a:gs>
              <a:gs pos="80000">
                <a:srgbClr val="000000">
                  <a:alpha val="0"/>
                </a:srgbClr>
              </a:gs>
              <a:gs pos="51000">
                <a:srgbClr val="000000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BBFE3D-4322-3E66-1E4A-58E824FCE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3228" y="3795164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A2C44826-1966-6008-2E1D-2B01EA8EF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35" y="1288269"/>
            <a:ext cx="4832476" cy="2165439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389ABE6-AF76-EFA5-B5CC-D66705A1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756" y="0"/>
            <a:ext cx="5008696" cy="1141004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s-MX" sz="2200" noProof="0" dirty="0"/>
              <a:t>Ejemplo del funcionamiento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607637A3-3093-676D-CDFC-FA0916D4C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897" y="1462993"/>
            <a:ext cx="6237838" cy="179625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s-MX" noProof="0" dirty="0"/>
              <a:t>Lista L: Se guardan los nodos</a:t>
            </a:r>
          </a:p>
          <a:p>
            <a:pPr marL="0" indent="0" algn="ctr">
              <a:buNone/>
            </a:pPr>
            <a:r>
              <a:rPr lang="es-MX" dirty="0"/>
              <a:t>Lista A: Se guardan los caminos entre nodos</a:t>
            </a:r>
          </a:p>
          <a:p>
            <a:pPr marL="0" indent="0" algn="ctr">
              <a:buNone/>
            </a:pPr>
            <a:r>
              <a:rPr lang="es-MX" noProof="0" dirty="0"/>
              <a:t>Cola Q: Se realiza el proceso</a:t>
            </a:r>
          </a:p>
          <a:p>
            <a:pPr marL="0" indent="0" algn="ctr">
              <a:buNone/>
            </a:pPr>
            <a:r>
              <a:rPr lang="es-MX" i="1" dirty="0"/>
              <a:t>Nota</a:t>
            </a:r>
            <a:r>
              <a:rPr lang="es-MX" i="1"/>
              <a:t>: Cuando tenemos </a:t>
            </a:r>
            <a:r>
              <a:rPr lang="es-MX" i="1" dirty="0"/>
              <a:t>dos nodos se prioriza el nodo más bajo en la herencia.</a:t>
            </a:r>
            <a:endParaRPr lang="es-MX" i="1" noProof="0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2896818-AB49-3457-08C8-2992D7E1CB6A}"/>
              </a:ext>
            </a:extLst>
          </p:cNvPr>
          <p:cNvSpPr txBox="1">
            <a:spLocks/>
          </p:cNvSpPr>
          <p:nvPr/>
        </p:nvSpPr>
        <p:spPr>
          <a:xfrm>
            <a:off x="0" y="4231845"/>
            <a:ext cx="6237838" cy="1796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MX" i="1" dirty="0"/>
              <a:t>L: { 1, 2, 7, 3, 8, 6, 9, 5}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MX" i="1" dirty="0"/>
              <a:t>A: { (1,2) , (1,7), (2,3) , (2,8) , (7,6), (6,5)}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MX" i="1" dirty="0"/>
              <a:t>Q: { 2,7 | 3,8 | 6,9 | 5 }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656811-730D-30D4-5F12-C88D12EF4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909" y="4199736"/>
            <a:ext cx="4566672" cy="2008347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79FE7E80-65C7-C8DF-097B-F56A87F58B63}"/>
              </a:ext>
            </a:extLst>
          </p:cNvPr>
          <p:cNvSpPr/>
          <p:nvPr/>
        </p:nvSpPr>
        <p:spPr>
          <a:xfrm>
            <a:off x="976266" y="1347459"/>
            <a:ext cx="362139" cy="371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EAF031D-8E44-A7BB-1773-EF8C985B3537}"/>
              </a:ext>
            </a:extLst>
          </p:cNvPr>
          <p:cNvSpPr/>
          <p:nvPr/>
        </p:nvSpPr>
        <p:spPr>
          <a:xfrm>
            <a:off x="7277478" y="4253622"/>
            <a:ext cx="362139" cy="371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8344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71213-E333-E808-933E-090F15CEE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58AC26-B988-E809-3DFA-0607673A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3C76F2E-62B5-FB00-DB2D-AD86443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402926-DFB7-82B9-B055-6DCC6D3E7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8637" y="1"/>
            <a:ext cx="889472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4902"/>
                </a:srgbClr>
              </a:gs>
              <a:gs pos="80000">
                <a:srgbClr val="000000">
                  <a:alpha val="0"/>
                </a:srgbClr>
              </a:gs>
              <a:gs pos="51000">
                <a:srgbClr val="000000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08BB24-6918-B1E4-8AA5-75A758314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3228" y="3795164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2CB8FFC-CAA5-D041-0857-56D703C92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35" y="1288269"/>
            <a:ext cx="4832476" cy="2165439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D825BDAC-5154-4B1E-BC50-E0DFD31F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756" y="0"/>
            <a:ext cx="5008696" cy="1141004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s-MX" sz="2200" noProof="0" dirty="0"/>
              <a:t>Ejemplo 2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B6FB499-3736-5829-51EF-AFDE5405E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897" y="1462993"/>
            <a:ext cx="6237838" cy="179625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s-MX" noProof="0" dirty="0"/>
              <a:t>Lista L: Se guardan los nodos</a:t>
            </a:r>
          </a:p>
          <a:p>
            <a:pPr marL="0" indent="0" algn="ctr">
              <a:buNone/>
            </a:pPr>
            <a:r>
              <a:rPr lang="es-MX" dirty="0"/>
              <a:t>Lista A: Se guardan los caminos entre nodos</a:t>
            </a:r>
          </a:p>
          <a:p>
            <a:pPr marL="0" indent="0" algn="ctr">
              <a:buNone/>
            </a:pPr>
            <a:r>
              <a:rPr lang="es-MX" noProof="0" dirty="0"/>
              <a:t>Cola Q: Se realiza el proceso</a:t>
            </a:r>
          </a:p>
          <a:p>
            <a:pPr marL="0" indent="0" algn="ctr">
              <a:buNone/>
            </a:pPr>
            <a:r>
              <a:rPr lang="es-MX" i="1" dirty="0"/>
              <a:t>Nota: Cuando tenemos dos nodos se prioriza el nodo más bajo en la herencia.</a:t>
            </a:r>
            <a:endParaRPr lang="es-MX" i="1" noProof="0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C002C48-D8C3-55FC-36D4-508008DCB062}"/>
              </a:ext>
            </a:extLst>
          </p:cNvPr>
          <p:cNvSpPr txBox="1">
            <a:spLocks/>
          </p:cNvSpPr>
          <p:nvPr/>
        </p:nvSpPr>
        <p:spPr>
          <a:xfrm>
            <a:off x="0" y="4231845"/>
            <a:ext cx="6237838" cy="1796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MX" i="1" dirty="0"/>
              <a:t>L: { 4, 1, 2, 5, 6, 7, 3, 8, 9}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MX" i="1" dirty="0"/>
              <a:t>A: { (4,1) , (4,2) , (</a:t>
            </a:r>
            <a:r>
              <a:rPr lang="es-MX" i="1"/>
              <a:t>4,5), </a:t>
            </a:r>
            <a:r>
              <a:rPr lang="es-MX" i="1" dirty="0"/>
              <a:t>(1,7) , (2,3) , (2,8) , (7,9)}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s-MX" i="1" dirty="0"/>
              <a:t>Q: { 1,2,5,6 | 7 | 3,8 | 9 }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F32D48-856A-E093-EA7C-404A922ED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042" y="4113159"/>
            <a:ext cx="5069752" cy="2216392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4E5E64CF-E2ED-ACC1-8DE6-63EB2BC3A897}"/>
              </a:ext>
            </a:extLst>
          </p:cNvPr>
          <p:cNvSpPr/>
          <p:nvPr/>
        </p:nvSpPr>
        <p:spPr>
          <a:xfrm>
            <a:off x="8338242" y="5088049"/>
            <a:ext cx="362139" cy="371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AB2E3DE-94C8-D535-B488-3A25FD6A3A2E}"/>
              </a:ext>
            </a:extLst>
          </p:cNvPr>
          <p:cNvSpPr/>
          <p:nvPr/>
        </p:nvSpPr>
        <p:spPr>
          <a:xfrm>
            <a:off x="2153217" y="2153218"/>
            <a:ext cx="362139" cy="371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5635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5EE69-9B7D-1BC1-3AD4-02A285A3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EE3C3B-3E6E-9BDD-5969-DE23E1826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9DE1BD-AE71-6577-7519-825191839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89968-3F13-A261-C20E-E4F85AED9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8637" y="1"/>
            <a:ext cx="889472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4902"/>
                </a:srgbClr>
              </a:gs>
              <a:gs pos="80000">
                <a:srgbClr val="000000">
                  <a:alpha val="0"/>
                </a:srgbClr>
              </a:gs>
              <a:gs pos="51000">
                <a:srgbClr val="000000">
                  <a:alpha val="2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4AD82E-A561-1475-238A-8DDED7C19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3228" y="3795164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691D74DD-5595-72CC-A83C-0FC8A7C28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16" y="2904336"/>
            <a:ext cx="5481365" cy="241061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C79C545-55B3-7815-16F0-6F5D22072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489" y="1149790"/>
            <a:ext cx="5008696" cy="1141004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s-MX" sz="2200" noProof="0" dirty="0"/>
              <a:t>comparación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BDF35F-9E30-7232-A911-684B58390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722" y="2902208"/>
            <a:ext cx="5518878" cy="2412741"/>
          </a:xfrm>
          <a:prstGeom prst="rect">
            <a:avLst/>
          </a:prstGeom>
        </p:spPr>
      </p:pic>
      <p:sp>
        <p:nvSpPr>
          <p:cNvPr id="15" name="Elipse 14">
            <a:extLst>
              <a:ext uri="{FF2B5EF4-FFF2-40B4-BE49-F238E27FC236}">
                <a16:creationId xmlns:a16="http://schemas.microsoft.com/office/drawing/2014/main" id="{1C9CD96E-15D7-C00A-5A05-9FB26D9D7B8F}"/>
              </a:ext>
            </a:extLst>
          </p:cNvPr>
          <p:cNvSpPr/>
          <p:nvPr/>
        </p:nvSpPr>
        <p:spPr>
          <a:xfrm>
            <a:off x="1038792" y="2991418"/>
            <a:ext cx="362139" cy="371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D72BCF8-8E5A-10C9-F6F1-8654AC139FB6}"/>
              </a:ext>
            </a:extLst>
          </p:cNvPr>
          <p:cNvSpPr/>
          <p:nvPr/>
        </p:nvSpPr>
        <p:spPr>
          <a:xfrm>
            <a:off x="8230167" y="3972493"/>
            <a:ext cx="362139" cy="371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7927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35BF-BE26-B9D7-6FF4-A333FEBF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33055BCC-D9BB-2036-9AB3-4B556241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284" y="3113921"/>
            <a:ext cx="2266950" cy="21907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40B816-F3B6-979E-18C6-0A339505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4702" y="362137"/>
            <a:ext cx="5008696" cy="552529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s-MX" sz="2200" noProof="0" dirty="0"/>
              <a:t>Código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282196-82ED-BEB4-CAA8-54BD9D5B7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1114425"/>
            <a:ext cx="3810000" cy="1752600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BC8F6F9-95F0-493F-69AE-FFF1B641E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320" y="5959872"/>
            <a:ext cx="6237838" cy="17962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i="1" dirty="0"/>
              <a:t>Nota: </a:t>
            </a:r>
            <a:r>
              <a:rPr lang="es-MX" i="1" dirty="0" err="1"/>
              <a:t>HashSet</a:t>
            </a:r>
            <a:r>
              <a:rPr lang="es-MX" i="1" dirty="0"/>
              <a:t> es una Lista, pero no permite ingresar un valor que se encuentre repetido. </a:t>
            </a:r>
            <a:endParaRPr lang="es-MX" i="1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6306D7C-0D36-C235-5543-0BF586EB9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22" y="3115429"/>
            <a:ext cx="2266950" cy="21907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DB0BBF6-8F10-0548-4300-44CE6436C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151" y="1210193"/>
            <a:ext cx="7353300" cy="157162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74829B4-C1CB-DC47-6191-C6D43D5EE6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8961" y="2752159"/>
            <a:ext cx="6477000" cy="30099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0ED42DA-9077-8145-5E5C-5745FF6E6A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5441226"/>
            <a:ext cx="2114550" cy="1173886"/>
          </a:xfrm>
          <a:prstGeom prst="rect">
            <a:avLst/>
          </a:prstGeom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951E9DA-9BFC-EFF2-13ED-A8810C4AAF24}"/>
              </a:ext>
            </a:extLst>
          </p:cNvPr>
          <p:cNvCxnSpPr>
            <a:cxnSpLocks/>
          </p:cNvCxnSpPr>
          <p:nvPr/>
        </p:nvCxnSpPr>
        <p:spPr>
          <a:xfrm flipH="1">
            <a:off x="3093739" y="3476059"/>
            <a:ext cx="253497" cy="6518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BAFDFDF-4B50-978F-DA82-902F9F7810EB}"/>
              </a:ext>
            </a:extLst>
          </p:cNvPr>
          <p:cNvCxnSpPr>
            <a:cxnSpLocks/>
          </p:cNvCxnSpPr>
          <p:nvPr/>
        </p:nvCxnSpPr>
        <p:spPr>
          <a:xfrm>
            <a:off x="3601204" y="3449370"/>
            <a:ext cx="344032" cy="62468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7763D92-8FF9-FBE1-4032-7AB940CDD570}"/>
              </a:ext>
            </a:extLst>
          </p:cNvPr>
          <p:cNvCxnSpPr>
            <a:cxnSpLocks/>
          </p:cNvCxnSpPr>
          <p:nvPr/>
        </p:nvCxnSpPr>
        <p:spPr>
          <a:xfrm flipH="1">
            <a:off x="2686804" y="4390931"/>
            <a:ext cx="307818" cy="53415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5F36AEE-D214-C742-9D27-D5C2DA2E6F98}"/>
              </a:ext>
            </a:extLst>
          </p:cNvPr>
          <p:cNvCxnSpPr>
            <a:cxnSpLocks/>
          </p:cNvCxnSpPr>
          <p:nvPr/>
        </p:nvCxnSpPr>
        <p:spPr>
          <a:xfrm>
            <a:off x="3954290" y="4372824"/>
            <a:ext cx="289710" cy="53415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962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016A-880E-2B29-164C-B403F477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523DF7B3-D028-067E-A6E8-D9339D788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401" y="2054666"/>
            <a:ext cx="2266950" cy="21907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B4A7B5B-DF40-9583-E7E7-DBA295BC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4702" y="362137"/>
            <a:ext cx="5008696" cy="552529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s-MX" sz="2200" noProof="0" dirty="0"/>
              <a:t>Código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E5D1857-4248-B0FE-479A-D0F903D5A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320" y="5959872"/>
            <a:ext cx="6237838" cy="17962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i="1" dirty="0"/>
              <a:t>Nota: </a:t>
            </a:r>
            <a:r>
              <a:rPr lang="es-MX" i="1" dirty="0" err="1"/>
              <a:t>HashSet</a:t>
            </a:r>
            <a:r>
              <a:rPr lang="es-MX" i="1" dirty="0"/>
              <a:t> es una Lista, pero no permite ingresar un valor que se encuentre repetido. </a:t>
            </a:r>
            <a:endParaRPr lang="es-MX" i="1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DC22081-F8CD-6642-0B62-72E281BB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39" y="2056174"/>
            <a:ext cx="2266950" cy="219075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9CA95C8-B832-AF95-1E59-3E457500D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732" y="3033004"/>
            <a:ext cx="2114550" cy="1173886"/>
          </a:xfrm>
          <a:prstGeom prst="rect">
            <a:avLst/>
          </a:prstGeom>
        </p:spPr>
      </p:pic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8A735D0-12B6-57C1-A83B-3DE20A2BB3F0}"/>
              </a:ext>
            </a:extLst>
          </p:cNvPr>
          <p:cNvCxnSpPr>
            <a:cxnSpLocks/>
          </p:cNvCxnSpPr>
          <p:nvPr/>
        </p:nvCxnSpPr>
        <p:spPr>
          <a:xfrm flipH="1">
            <a:off x="3790856" y="2416804"/>
            <a:ext cx="253497" cy="6518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A0E3E0E-E3EC-398A-1A1C-73D61CBC019D}"/>
              </a:ext>
            </a:extLst>
          </p:cNvPr>
          <p:cNvCxnSpPr>
            <a:cxnSpLocks/>
          </p:cNvCxnSpPr>
          <p:nvPr/>
        </p:nvCxnSpPr>
        <p:spPr>
          <a:xfrm>
            <a:off x="4298321" y="2390115"/>
            <a:ext cx="344032" cy="62468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E4EDDC7-B406-0226-52AB-52C3D672F0C0}"/>
              </a:ext>
            </a:extLst>
          </p:cNvPr>
          <p:cNvCxnSpPr>
            <a:cxnSpLocks/>
          </p:cNvCxnSpPr>
          <p:nvPr/>
        </p:nvCxnSpPr>
        <p:spPr>
          <a:xfrm flipH="1">
            <a:off x="3383921" y="3331676"/>
            <a:ext cx="307818" cy="53415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8E98F9F-75E1-888E-51A4-166EF5FB8464}"/>
              </a:ext>
            </a:extLst>
          </p:cNvPr>
          <p:cNvCxnSpPr>
            <a:cxnSpLocks/>
          </p:cNvCxnSpPr>
          <p:nvPr/>
        </p:nvCxnSpPr>
        <p:spPr>
          <a:xfrm>
            <a:off x="4651407" y="3313569"/>
            <a:ext cx="289710" cy="53415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8EE21C3-1672-4BBC-286D-C1F772671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281" y="1718839"/>
            <a:ext cx="290512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02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A788-4C6D-0B33-255B-7191C08C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13BBE-EF0A-1E06-BA7E-D90D91CB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4702" y="362137"/>
            <a:ext cx="5008696" cy="552529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s-MX" sz="2200" noProof="0" dirty="0"/>
              <a:t>Ejercicio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AD7021-A6B6-A406-62FC-DEF3387EA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841" y="1127487"/>
            <a:ext cx="47625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B813A28-5E1E-2AC6-B599-F472D3EFC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832" y="5061745"/>
            <a:ext cx="6237838" cy="17962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i="1" noProof="0" dirty="0"/>
              <a:t>Hacer un programa que, basándose en este grafo, puedas poner un nodo y te imprima la búsqueda por anchura a partir de ese nodo. </a:t>
            </a:r>
            <a:r>
              <a:rPr lang="es-MX" i="1"/>
              <a:t>(Tienes </a:t>
            </a:r>
            <a:r>
              <a:rPr lang="es-MX" i="1" dirty="0"/>
              <a:t>que mencionar en el código cuantos nodos hay para que el usuario pueda </a:t>
            </a:r>
            <a:r>
              <a:rPr lang="es-MX" i="1"/>
              <a:t>seleccionar uno)</a:t>
            </a:r>
            <a:r>
              <a:rPr lang="es-MX" i="1" dirty="0"/>
              <a:t>.</a:t>
            </a:r>
          </a:p>
        </p:txBody>
      </p:sp>
      <p:sp>
        <p:nvSpPr>
          <p:cNvPr id="10" name="Símbolo &quot;No permitido&quot; 9">
            <a:extLst>
              <a:ext uri="{FF2B5EF4-FFF2-40B4-BE49-F238E27FC236}">
                <a16:creationId xmlns:a16="http://schemas.microsoft.com/office/drawing/2014/main" id="{2E504474-C319-D1C0-988A-4A8E6411BDE6}"/>
              </a:ext>
            </a:extLst>
          </p:cNvPr>
          <p:cNvSpPr/>
          <p:nvPr/>
        </p:nvSpPr>
        <p:spPr>
          <a:xfrm>
            <a:off x="7441948" y="2498756"/>
            <a:ext cx="497941" cy="298764"/>
          </a:xfrm>
          <a:prstGeom prst="noSmoking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1" name="Símbolo &quot;No permitido&quot; 10">
            <a:extLst>
              <a:ext uri="{FF2B5EF4-FFF2-40B4-BE49-F238E27FC236}">
                <a16:creationId xmlns:a16="http://schemas.microsoft.com/office/drawing/2014/main" id="{5CD86949-F6DB-B823-F3F2-0A8BAEA58FCE}"/>
              </a:ext>
            </a:extLst>
          </p:cNvPr>
          <p:cNvSpPr/>
          <p:nvPr/>
        </p:nvSpPr>
        <p:spPr>
          <a:xfrm>
            <a:off x="4181192" y="3565556"/>
            <a:ext cx="497941" cy="298764"/>
          </a:xfrm>
          <a:prstGeom prst="noSmoking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2" name="Símbolo &quot;No permitido&quot; 11">
            <a:extLst>
              <a:ext uri="{FF2B5EF4-FFF2-40B4-BE49-F238E27FC236}">
                <a16:creationId xmlns:a16="http://schemas.microsoft.com/office/drawing/2014/main" id="{5727CCBA-84A1-65B0-B28A-62C5A7A13C34}"/>
              </a:ext>
            </a:extLst>
          </p:cNvPr>
          <p:cNvSpPr/>
          <p:nvPr/>
        </p:nvSpPr>
        <p:spPr>
          <a:xfrm>
            <a:off x="4443742" y="2096726"/>
            <a:ext cx="497941" cy="298764"/>
          </a:xfrm>
          <a:prstGeom prst="noSmoking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95CC409-2188-2598-6FF6-25339EC61E88}"/>
              </a:ext>
            </a:extLst>
          </p:cNvPr>
          <p:cNvSpPr/>
          <p:nvPr/>
        </p:nvSpPr>
        <p:spPr>
          <a:xfrm>
            <a:off x="5557319" y="2044575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8C17658-1E70-4B84-BEF9-6F9145EB0D63}"/>
              </a:ext>
            </a:extLst>
          </p:cNvPr>
          <p:cNvSpPr/>
          <p:nvPr/>
        </p:nvSpPr>
        <p:spPr>
          <a:xfrm>
            <a:off x="4398475" y="3140045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04EC000-9927-D0D9-B5B6-CBC837C0A09A}"/>
              </a:ext>
            </a:extLst>
          </p:cNvPr>
          <p:cNvSpPr/>
          <p:nvPr/>
        </p:nvSpPr>
        <p:spPr>
          <a:xfrm>
            <a:off x="4226459" y="4172140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43AD844-A370-C102-1233-A28935EAB55E}"/>
              </a:ext>
            </a:extLst>
          </p:cNvPr>
          <p:cNvSpPr/>
          <p:nvPr/>
        </p:nvSpPr>
        <p:spPr>
          <a:xfrm>
            <a:off x="6571307" y="1972148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655085C-B57D-0248-52BC-6C1CA27C53A1}"/>
              </a:ext>
            </a:extLst>
          </p:cNvPr>
          <p:cNvSpPr/>
          <p:nvPr/>
        </p:nvSpPr>
        <p:spPr>
          <a:xfrm>
            <a:off x="5512052" y="3004243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FB80147-DF5D-9217-9412-98CDB7259E9B}"/>
              </a:ext>
            </a:extLst>
          </p:cNvPr>
          <p:cNvSpPr/>
          <p:nvPr/>
        </p:nvSpPr>
        <p:spPr>
          <a:xfrm>
            <a:off x="7576242" y="1917827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6F448FF-354A-B65D-4915-6DB9B65621D2}"/>
              </a:ext>
            </a:extLst>
          </p:cNvPr>
          <p:cNvSpPr/>
          <p:nvPr/>
        </p:nvSpPr>
        <p:spPr>
          <a:xfrm>
            <a:off x="6634681" y="2986135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2B76E1E-128D-15E8-D00B-28A43F0F1277}"/>
              </a:ext>
            </a:extLst>
          </p:cNvPr>
          <p:cNvSpPr/>
          <p:nvPr/>
        </p:nvSpPr>
        <p:spPr>
          <a:xfrm>
            <a:off x="6643734" y="4000124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0DDB365-B9F0-4CD4-E66C-3E09B4861819}"/>
              </a:ext>
            </a:extLst>
          </p:cNvPr>
          <p:cNvSpPr/>
          <p:nvPr/>
        </p:nvSpPr>
        <p:spPr>
          <a:xfrm>
            <a:off x="7702990" y="3954857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8134596-4733-9815-4D6F-6E5B58E6DBF2}"/>
              </a:ext>
            </a:extLst>
          </p:cNvPr>
          <p:cNvSpPr/>
          <p:nvPr/>
        </p:nvSpPr>
        <p:spPr>
          <a:xfrm>
            <a:off x="5566373" y="4072551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8ABA2E3-8D93-F632-83C0-D4678B014D43}"/>
              </a:ext>
            </a:extLst>
          </p:cNvPr>
          <p:cNvSpPr/>
          <p:nvPr/>
        </p:nvSpPr>
        <p:spPr>
          <a:xfrm>
            <a:off x="7630562" y="2931815"/>
            <a:ext cx="235390" cy="2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Símbolo &quot;No permitido&quot; 25">
            <a:extLst>
              <a:ext uri="{FF2B5EF4-FFF2-40B4-BE49-F238E27FC236}">
                <a16:creationId xmlns:a16="http://schemas.microsoft.com/office/drawing/2014/main" id="{E2DB2390-3852-6A3A-5082-F407C3598ED1}"/>
              </a:ext>
            </a:extLst>
          </p:cNvPr>
          <p:cNvSpPr/>
          <p:nvPr/>
        </p:nvSpPr>
        <p:spPr>
          <a:xfrm>
            <a:off x="6470210" y="3591208"/>
            <a:ext cx="497941" cy="298764"/>
          </a:xfrm>
          <a:prstGeom prst="noSmoking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27" name="Símbolo &quot;No permitido&quot; 26">
            <a:extLst>
              <a:ext uri="{FF2B5EF4-FFF2-40B4-BE49-F238E27FC236}">
                <a16:creationId xmlns:a16="http://schemas.microsoft.com/office/drawing/2014/main" id="{B415C570-8281-9A80-B231-71EA91AA7A4E}"/>
              </a:ext>
            </a:extLst>
          </p:cNvPr>
          <p:cNvSpPr/>
          <p:nvPr/>
        </p:nvSpPr>
        <p:spPr>
          <a:xfrm>
            <a:off x="5434342" y="2449151"/>
            <a:ext cx="497941" cy="298764"/>
          </a:xfrm>
          <a:prstGeom prst="noSmoking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</p:txBody>
      </p:sp>
      <p:pic>
        <p:nvPicPr>
          <p:cNvPr id="1028" name="Picture 4" descr="Las fotos de Street View provienen de dos fuentes: Google y nuestros  colaboradores.">
            <a:extLst>
              <a:ext uri="{FF2B5EF4-FFF2-40B4-BE49-F238E27FC236}">
                <a16:creationId xmlns:a16="http://schemas.microsoft.com/office/drawing/2014/main" id="{988B4B78-F02A-234B-E005-84D6B4BB1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45" b="89896" l="9961" r="90039">
                        <a14:foregroundMark x1="88867" y1="70984" x2="90039" y2="64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3850" y="-238125"/>
            <a:ext cx="487680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Las fotos de Street View provienen de dos fuentes: Google y nuestros  colaboradores.">
            <a:extLst>
              <a:ext uri="{FF2B5EF4-FFF2-40B4-BE49-F238E27FC236}">
                <a16:creationId xmlns:a16="http://schemas.microsoft.com/office/drawing/2014/main" id="{B2C8A1A1-556B-0439-4954-3B4993B5E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45" b="89896" l="9961" r="90039">
                        <a14:foregroundMark x1="88867" y1="70984" x2="90039" y2="645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10500" y="-266700"/>
            <a:ext cx="487680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903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B0357-7D0A-033E-C8D4-D0076B1A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2979063"/>
            <a:ext cx="9238434" cy="861383"/>
          </a:xfrm>
        </p:spPr>
        <p:txBody>
          <a:bodyPr/>
          <a:lstStyle/>
          <a:p>
            <a:pPr algn="ctr"/>
            <a:r>
              <a:rPr lang="es-MX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11028626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1"/>
      </a:lt2>
      <a:accent1>
        <a:srgbClr val="D937B0"/>
      </a:accent1>
      <a:accent2>
        <a:srgbClr val="AC25C7"/>
      </a:accent2>
      <a:accent3>
        <a:srgbClr val="7B37D9"/>
      </a:accent3>
      <a:accent4>
        <a:srgbClr val="3A3ACC"/>
      </a:accent4>
      <a:accent5>
        <a:srgbClr val="377AD9"/>
      </a:accent5>
      <a:accent6>
        <a:srgbClr val="25ACC7"/>
      </a:accent6>
      <a:hlink>
        <a:srgbClr val="3F5FBF"/>
      </a:hlink>
      <a:folHlink>
        <a:srgbClr val="7F7F7F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14E6CDF8A0C44868AB0B491522758" ma:contentTypeVersion="8" ma:contentTypeDescription="Create a new document." ma:contentTypeScope="" ma:versionID="0257a0ae0209fa9c8ab2e6f5ef7573ad">
  <xsd:schema xmlns:xsd="http://www.w3.org/2001/XMLSchema" xmlns:xs="http://www.w3.org/2001/XMLSchema" xmlns:p="http://schemas.microsoft.com/office/2006/metadata/properties" xmlns:ns3="585f8961-8dc7-4463-b78f-06e26113f716" xmlns:ns4="bbbe8cc9-7e4b-48e3-b01f-130e06f1d29b" targetNamespace="http://schemas.microsoft.com/office/2006/metadata/properties" ma:root="true" ma:fieldsID="506333a225dcf14db50e920e7860d175" ns3:_="" ns4:_="">
    <xsd:import namespace="585f8961-8dc7-4463-b78f-06e26113f716"/>
    <xsd:import namespace="bbbe8cc9-7e4b-48e3-b01f-130e06f1d2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5f8961-8dc7-4463-b78f-06e26113f7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8cc9-7e4b-48e3-b01f-130e06f1d29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85f8961-8dc7-4463-b78f-06e26113f71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95C468-FA91-477D-872D-0152F1172B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5f8961-8dc7-4463-b78f-06e26113f716"/>
    <ds:schemaRef ds:uri="bbbe8cc9-7e4b-48e3-b01f-130e06f1d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413701-65B4-4370-890F-AF39923CDA82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bbbe8cc9-7e4b-48e3-b01f-130e06f1d29b"/>
    <ds:schemaRef ds:uri="http://purl.org/dc/terms/"/>
    <ds:schemaRef ds:uri="http://purl.org/dc/dcmitype/"/>
    <ds:schemaRef ds:uri="http://schemas.openxmlformats.org/package/2006/metadata/core-properties"/>
    <ds:schemaRef ds:uri="585f8961-8dc7-4463-b78f-06e26113f716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5A53238-CFAB-42EE-A97A-5E3E983120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391</Words>
  <Application>Microsoft Office PowerPoint</Application>
  <PresentationFormat>Widescreen</PresentationFormat>
  <Paragraphs>44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Trade Gothic Next Cond</vt:lpstr>
      <vt:lpstr>Trade Gothic Next Light</vt:lpstr>
      <vt:lpstr>PortalVTI</vt:lpstr>
      <vt:lpstr>Búsqueda por anchura (BFS)</vt:lpstr>
      <vt:lpstr>Búsqueda por anchura/ Breadth-first search</vt:lpstr>
      <vt:lpstr>Búsqueda por anchura/ Breadth-first search</vt:lpstr>
      <vt:lpstr>PowerPoint Presentation</vt:lpstr>
      <vt:lpstr>Pila</vt:lpstr>
      <vt:lpstr>Ejemplo del funcionamiento</vt:lpstr>
      <vt:lpstr>Ejemplo del funcionamiento</vt:lpstr>
      <vt:lpstr>Ejemplo 2</vt:lpstr>
      <vt:lpstr>comparación</vt:lpstr>
      <vt:lpstr>Código</vt:lpstr>
      <vt:lpstr>Código</vt:lpstr>
      <vt:lpstr>Ejercicio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FERNANDO LIZARRAGA TRUJILLO</dc:creator>
  <cp:lastModifiedBy>LUIS FERNANDO LIZARRAGA TRUJILLO</cp:lastModifiedBy>
  <cp:revision>3</cp:revision>
  <dcterms:created xsi:type="dcterms:W3CDTF">2024-10-23T10:29:24Z</dcterms:created>
  <dcterms:modified xsi:type="dcterms:W3CDTF">2025-03-20T23:57:15Z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0x010100D3E14E6CDF8A0C44868AB0B491522758</vt:lpwstr>
  </property>
</Properties>
</file>